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d0244431084f42" /><Relationship Type="http://schemas.openxmlformats.org/officeDocument/2006/relationships/extended-properties" Target="/docProps/app.xml" Id="Re1e964b6c08b4a4b" /><Relationship Type="http://schemas.openxmlformats.org/officeDocument/2006/relationships/officeDocument" Target="/ppt/presentation.xml" Id="Red888e12149042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605c8ab06949ea"/>
  </p:sldMasterIdLst>
  <p:notesMasterIdLst>
    <p:notesMasterId xmlns:r="http://schemas.openxmlformats.org/officeDocument/2006/relationships" r:id="R4f002002c4fb4916"/>
  </p:notesMasterIdLst>
  <p:sldIdLst>
    <p:sldId xmlns:r="http://schemas.openxmlformats.org/officeDocument/2006/relationships" id="256" r:id="R406c2fb2543947bf"/>
    <p:sldId xmlns:r="http://schemas.openxmlformats.org/officeDocument/2006/relationships" id="257" r:id="Rbf7c6e9775104edc"/>
    <p:sldId xmlns:r="http://schemas.openxmlformats.org/officeDocument/2006/relationships" id="258" r:id="Rcbffe49714be4db5"/>
    <p:sldId xmlns:r="http://schemas.openxmlformats.org/officeDocument/2006/relationships" id="259" r:id="Re0286fc084484fd7"/>
    <p:sldId xmlns:r="http://schemas.openxmlformats.org/officeDocument/2006/relationships" id="260" r:id="Rafe3bb06936744c2"/>
    <p:sldId xmlns:r="http://schemas.openxmlformats.org/officeDocument/2006/relationships" id="261" r:id="R54cb11fd1b76423a"/>
    <p:sldId xmlns:r="http://schemas.openxmlformats.org/officeDocument/2006/relationships" id="262" r:id="R9947dcde865044ac"/>
    <p:sldId xmlns:r="http://schemas.openxmlformats.org/officeDocument/2006/relationships" id="263" r:id="R58811228e01c47c9"/>
    <p:sldId xmlns:r="http://schemas.openxmlformats.org/officeDocument/2006/relationships" id="264" r:id="R390134e9d5f342cf"/>
    <p:sldId xmlns:r="http://schemas.openxmlformats.org/officeDocument/2006/relationships" id="265" r:id="R4ac10b6f1abc4945"/>
    <p:sldId xmlns:r="http://schemas.openxmlformats.org/officeDocument/2006/relationships" id="266" r:id="R201ebccda22b47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82dadea92c4384" /><Relationship Type="http://schemas.openxmlformats.org/officeDocument/2006/relationships/slideMaster" Target="/ppt/slideMasters/slideMaster1.xml" Id="R5b605c8ab06949ea" /><Relationship Type="http://schemas.openxmlformats.org/officeDocument/2006/relationships/notesMaster" Target="/ppt/notesMasters/notesMaster1.xml" Id="R4f002002c4fb4916" /><Relationship Type="http://schemas.openxmlformats.org/officeDocument/2006/relationships/presProps" Target="/ppt/presProps.xml" Id="R190ca8cb9be94bca" /><Relationship Type="http://schemas.openxmlformats.org/officeDocument/2006/relationships/tableStyles" Target="/ppt/tableStyles.xml" Id="R9bf4e5dd220e41df" /><Relationship Type="http://schemas.openxmlformats.org/officeDocument/2006/relationships/slide" Target="/ppt/slides/slide1.xml" Id="R406c2fb2543947bf" /><Relationship Type="http://schemas.openxmlformats.org/officeDocument/2006/relationships/slide" Target="/ppt/slides/slide2.xml" Id="Rbf7c6e9775104edc" /><Relationship Type="http://schemas.openxmlformats.org/officeDocument/2006/relationships/slide" Target="/ppt/slides/slide3.xml" Id="Rcbffe49714be4db5" /><Relationship Type="http://schemas.openxmlformats.org/officeDocument/2006/relationships/slide" Target="/ppt/slides/slide4.xml" Id="Re0286fc084484fd7" /><Relationship Type="http://schemas.openxmlformats.org/officeDocument/2006/relationships/slide" Target="/ppt/slides/slide5.xml" Id="Rafe3bb06936744c2" /><Relationship Type="http://schemas.openxmlformats.org/officeDocument/2006/relationships/slide" Target="/ppt/slides/slide6.xml" Id="R54cb11fd1b76423a" /><Relationship Type="http://schemas.openxmlformats.org/officeDocument/2006/relationships/slide" Target="/ppt/slides/slide7.xml" Id="R9947dcde865044ac" /><Relationship Type="http://schemas.openxmlformats.org/officeDocument/2006/relationships/slide" Target="/ppt/slides/slide8.xml" Id="R58811228e01c47c9" /><Relationship Type="http://schemas.openxmlformats.org/officeDocument/2006/relationships/slide" Target="/ppt/slides/slide9.xml" Id="R390134e9d5f342cf" /><Relationship Type="http://schemas.openxmlformats.org/officeDocument/2006/relationships/slide" Target="/ppt/slides/slide10.xml" Id="R4ac10b6f1abc4945" /><Relationship Type="http://schemas.openxmlformats.org/officeDocument/2006/relationships/slide" Target="/ppt/slides/slide11.xml" Id="R201ebccda22b47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03d94bfc3e47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5dd463ab35410e" /><Relationship Type="http://schemas.openxmlformats.org/officeDocument/2006/relationships/notesMaster" Target="/ppt/notesMasters/notesMaster1.xml" Id="R523c9a783be24e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6ddbdce9d243eb" /><Relationship Type="http://schemas.openxmlformats.org/officeDocument/2006/relationships/notesMaster" Target="/ppt/notesMasters/notesMaster1.xml" Id="R87e28ddad31c47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1230f909d243c8" /><Relationship Type="http://schemas.openxmlformats.org/officeDocument/2006/relationships/notesMaster" Target="/ppt/notesMasters/notesMaster1.xml" Id="Rdc12dfff28d948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86a962456d4cb1" /><Relationship Type="http://schemas.openxmlformats.org/officeDocument/2006/relationships/notesMaster" Target="/ppt/notesMasters/notesMaster1.xml" Id="Rce6597282a5b4f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106843bed24078" /><Relationship Type="http://schemas.openxmlformats.org/officeDocument/2006/relationships/notesMaster" Target="/ppt/notesMasters/notesMaster1.xml" Id="Rede4b0c38c8845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57a311a40c45c1" /><Relationship Type="http://schemas.openxmlformats.org/officeDocument/2006/relationships/notesMaster" Target="/ppt/notesMasters/notesMaster1.xml" Id="R30852482d85b4a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8135aeffa74a95" /><Relationship Type="http://schemas.openxmlformats.org/officeDocument/2006/relationships/notesMaster" Target="/ppt/notesMasters/notesMaster1.xml" Id="R8bce1c21a7aa4a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053f46a483427d" /><Relationship Type="http://schemas.openxmlformats.org/officeDocument/2006/relationships/notesMaster" Target="/ppt/notesMasters/notesMaster1.xml" Id="Rfab758b965fb4f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91e2ce4a804d2a" /><Relationship Type="http://schemas.openxmlformats.org/officeDocument/2006/relationships/notesMaster" Target="/ppt/notesMasters/notesMaster1.xml" Id="R812c31b1c3c1475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62ef657df242a1" /><Relationship Type="http://schemas.openxmlformats.org/officeDocument/2006/relationships/notesMaster" Target="/ppt/notesMasters/notesMaster1.xml" Id="R5cb03ac3eed3460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8e082d27b44523" /><Relationship Type="http://schemas.openxmlformats.org/officeDocument/2006/relationships/notesMaster" Target="/ppt/notesMasters/notesMaster1.xml" Id="Rb07ea3b75a6d46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0eb195cf2a4a3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41d8cf337f4cb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76736ebdb8413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2a78bc28f549b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23e8c07fc24c8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6ceea57d6640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778D8C-7F53-4093-BAEF-17DB35CBB0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A889333-1FFC-401C-921A-062ED3DC6B5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91A4CE1-329E-4F89-9FFD-82D204D1E8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B0D60C-CF5E-4041-A503-92B0992A03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9A6D196-2B99-4079-AEA0-A2952DC2EA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7D60AB9-019E-48E7-BC97-13819B1C2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EF669A-435E-491C-A813-BA80294EE0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D5A3E3F-A8A1-4E96-9924-F7BC28A447A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0B1822-64D3-4936-9274-3461D728A0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2C146D-BD5D-4B4C-8BE3-F91D98235A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8a81e023024243" /><Relationship Type="http://schemas.openxmlformats.org/officeDocument/2006/relationships/slideLayout" Target="/ppt/slideLayouts/slideLayout1.xml" Id="R59b6f4f8a29e4229" /><Relationship Type="http://schemas.openxmlformats.org/officeDocument/2006/relationships/slideLayout" Target="/ppt/slideLayouts/slideLayout2.xml" Id="Rc156f8be5ed24f36" /><Relationship Type="http://schemas.openxmlformats.org/officeDocument/2006/relationships/slideLayout" Target="/ppt/slideLayouts/slideLayout3.xml" Id="R9dc4be24a5174469" /><Relationship Type="http://schemas.openxmlformats.org/officeDocument/2006/relationships/slideLayout" Target="/ppt/slideLayouts/slideLayout4.xml" Id="Rb3afb349029e4b6c" /><Relationship Type="http://schemas.openxmlformats.org/officeDocument/2006/relationships/slideLayout" Target="/ppt/slideLayouts/slideLayout5.xml" Id="R3e2307675598459a" /><Relationship Type="http://schemas.openxmlformats.org/officeDocument/2006/relationships/slideLayout" Target="/ppt/slideLayouts/slideLayout6.xml" Id="R5920291adcec4b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b6f4f8a29e4229"/>
    <p:sldLayoutId xmlns:r="http://schemas.openxmlformats.org/officeDocument/2006/relationships" id="2147483650" r:id="Rc156f8be5ed24f36"/>
    <p:sldLayoutId xmlns:r="http://schemas.openxmlformats.org/officeDocument/2006/relationships" id="2147483651" r:id="R9dc4be24a5174469"/>
    <p:sldLayoutId xmlns:r="http://schemas.openxmlformats.org/officeDocument/2006/relationships" id="2147483652" r:id="Rb3afb349029e4b6c"/>
    <p:sldLayoutId xmlns:r="http://schemas.openxmlformats.org/officeDocument/2006/relationships" id="2147483653" r:id="R3e2307675598459a"/>
    <p:sldLayoutId xmlns:r="http://schemas.openxmlformats.org/officeDocument/2006/relationships" id="2147483654" r:id="R5920291adcec4b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8b29191ba1437d" /><Relationship Type="http://schemas.openxmlformats.org/officeDocument/2006/relationships/notesSlide" Target="/ppt/notesSlides/notesSlide1.xml" Id="R04cb490e701e4e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5778de87624bc6" /><Relationship Type="http://schemas.openxmlformats.org/officeDocument/2006/relationships/notesSlide" Target="/ppt/notesSlides/notesSlide2.xml" Id="R818c1b1e5cb246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1e1ac36db74528" /><Relationship Type="http://schemas.openxmlformats.org/officeDocument/2006/relationships/notesSlide" Target="/ppt/notesSlides/notesSlide3.xml" Id="Rd538068e1acd42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88c917713c463b" /><Relationship Type="http://schemas.openxmlformats.org/officeDocument/2006/relationships/notesSlide" Target="/ppt/notesSlides/notesSlide4.xml" Id="Rc3c0036487a842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d5256a2fee487c" /><Relationship Type="http://schemas.openxmlformats.org/officeDocument/2006/relationships/notesSlide" Target="/ppt/notesSlides/notesSlide5.xml" Id="R63ac30e07f4a48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a2fdc4924b4360" /><Relationship Type="http://schemas.openxmlformats.org/officeDocument/2006/relationships/notesSlide" Target="/ppt/notesSlides/notesSlide6.xml" Id="R928d768fe6a84c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5662778a674053" /><Relationship Type="http://schemas.openxmlformats.org/officeDocument/2006/relationships/notesSlide" Target="/ppt/notesSlides/notesSlide7.xml" Id="R0c3418be9d1347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cf11a46637482b" /><Relationship Type="http://schemas.openxmlformats.org/officeDocument/2006/relationships/notesSlide" Target="/ppt/notesSlides/notesSlide8.xml" Id="R084fcef436274d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5a2e8f245b4c5d" /><Relationship Type="http://schemas.openxmlformats.org/officeDocument/2006/relationships/notesSlide" Target="/ppt/notesSlides/notesSlide9.xml" Id="Reed70026474345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21f04f8f594ebc" /><Relationship Type="http://schemas.openxmlformats.org/officeDocument/2006/relationships/notesSlide" Target="/ppt/notesSlides/notesSlide10.xml" Id="R2793b11cbe0d436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52a82a434e430c" /><Relationship Type="http://schemas.openxmlformats.org/officeDocument/2006/relationships/notesSlide" Target="/ppt/notesSlides/notesSlide11.xml" Id="Rf0504ccf963646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869329-CACC-4195-902D-00D80697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698F4-0058-4937-B15C-60EE574D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ZOOM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F6049-E2C6-46D2-B8E5-C14AB7C1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Xây kênh Reels &amp; TikTok</a:t>
            </a:r>
          </a:p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bằng video AI để làm Affiliate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98775-5772-4B0E-A804-BE4E48B1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9B8CE"/>
                </a:solidFill>
              </a:defRPr>
            </a:pPr>
            <a:r>
              <a:rPr sz="1650" b="0">
                <a:solidFill>
                  <a:srgbClr val="A9B8CE"/>
                </a:solidFill>
              </a:rPr>
              <a:t>Từ chọn ngách, chọn sản phẩm đến hệ thống nội dung</a:t>
            </a:r>
          </a:p>
          <a:p xmlns:a="http://schemas.openxmlformats.org/drawingml/2006/main">
            <a:pPr>
              <a:defRPr sz="1650" b="0">
                <a:solidFill>
                  <a:srgbClr val="A9B8CE"/>
                </a:solidFill>
              </a:defRPr>
            </a:pPr>
            <a:r>
              <a:rPr sz="1650" b="0">
                <a:solidFill>
                  <a:srgbClr val="A9B8CE"/>
                </a:solidFill>
              </a:rPr>
              <a:t>và tối ưu đơn hàng.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CEB95-9721-4F46-B8FA-12BC9B57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1352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EDBCB3-046F-4CF8-B8D8-8DE05847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FREE TRAFFIC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F6234-B72F-46DE-9C6A-5410AF5C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76675"/>
            <a:ext cx="1162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DDA0CB-7037-4DF8-90C7-25627388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43350"/>
            <a:ext cx="933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VIDEO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6F8C78-58CE-4BE0-A78F-0320E1A8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76675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56F3F-2DB3-4D40-94E9-7076545A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4335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AFFILIATE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3200A7-8E04-44D6-AA84-E0DA2B23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90600"/>
            <a:ext cx="2762250" cy="47625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F2D50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05349C-1389-49FD-95BB-81CE69AA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333500"/>
            <a:ext cx="2305050" cy="350520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08182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85BFA7-C2C3-4CB5-B7C1-376E027A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38300"/>
            <a:ext cx="19240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B83A77-0A9F-411E-A2B8-35F7F1FC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76425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HOOK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 GIÂY ĐẦU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E85F1F-50E7-4B25-B625-0BA1BB5B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52750"/>
            <a:ext cx="19240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26436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036D9F-8346-4E30-A3ED-64183918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62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Nỗi đau thật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A974F0-BD8E-4FCF-A721-B293B57F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10000"/>
            <a:ext cx="19240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2643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BBF9EE-0D69-4A10-B2F9-F2B2CF63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1955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Demo + bằng chứng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BC163C-5BEE-4F41-A700-9BEA70FF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67250"/>
            <a:ext cx="1924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3DBFAD-6728-4CF7-A164-349CCCEF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815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71426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71426"/>
                </a:solidFill>
              </a:defRPr>
            </a:pPr>
            <a:r>
              <a:rPr sz="1125" b="1">
                <a:solidFill>
                  <a:srgbClr val="071426"/>
                </a:solidFill>
              </a:rPr>
              <a:t>CTA rõ ràng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7AD455-2746-4C4F-A4FC-F6AD9609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A9B8CE"/>
                </a:solidFill>
              </a:defRPr>
            </a:pPr>
            <a:r>
              <a:rPr sz="1050" b="1">
                <a:solidFill>
                  <a:srgbClr val="A9B8CE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791385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3435F7-9360-43C7-9C7A-0ED5D9C5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C5AF2-2CB2-4AE2-92A2-876D504C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2D3EE"/>
                </a:solidFill>
              </a:defRPr>
            </a:pPr>
            <a:r>
              <a:rPr sz="900" b="1">
                <a:solidFill>
                  <a:srgbClr val="22D3EE"/>
                </a:solidFill>
              </a:rPr>
              <a:t>TƯ DUY NỀN TẢNG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D0129-43C9-4C16-9592-8326AA6C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A9B8CE"/>
                </a:solidFill>
              </a:defRPr>
            </a:pPr>
            <a:r>
              <a:rPr sz="900" b="1">
                <a:solidFill>
                  <a:srgbClr val="A9B8CE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B300A9-858D-44A3-8994-4E1D9965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Kênh affiliate là một hệ thống tạo lợi nhuận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6332BC-7FB8-424D-BD17-80ED4175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9B8CE"/>
                </a:solidFill>
              </a:defRPr>
            </a:pPr>
            <a:r>
              <a:rPr sz="1275" b="0">
                <a:solidFill>
                  <a:srgbClr val="A9B8CE"/>
                </a:solidFill>
              </a:rPr>
              <a:t>View chỉ là điểm bắt đầu. Mục tiêu là đưa đúng người đến đúng sản phẩm.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C64A6-D3BD-4985-A327-4E627DCB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2669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5D462E-A7B2-4513-B506-CB71053F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B53D9A-5EC4-46BD-862E-5E68CF7C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ĐÚNG TỆP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8356C1-4557-49F1-9937-F7A472B5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9B8CE"/>
                </a:solidFill>
              </a:defRPr>
            </a:pPr>
            <a:r>
              <a:rPr sz="1200" b="0">
                <a:solidFill>
                  <a:srgbClr val="A9B8CE"/>
                </a:solidFill>
              </a:rPr>
              <a:t>Người xem có nhu cầu</a:t>
            </a:r>
          </a:p>
          <a:p xmlns:a="http://schemas.openxmlformats.org/drawingml/2006/main">
            <a:pPr>
              <a:defRPr sz="1200" b="0">
                <a:solidFill>
                  <a:srgbClr val="A9B8CE"/>
                </a:solidFill>
              </a:defRPr>
            </a:pPr>
            <a:r>
              <a:rPr sz="1200" b="0">
                <a:solidFill>
                  <a:srgbClr val="A9B8CE"/>
                </a:solidFill>
              </a:rPr>
              <a:t>và khả năng mua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9B53B-1883-40C4-B608-3354BFFA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24100"/>
            <a:ext cx="22669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26436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889B65-BB0A-4998-9F7F-61273F36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336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B3CE9C-C49F-42E4-B0A3-3698FBB3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33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ĐÚNG NỘI DUNG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769F4C-27D8-4FD1-9432-4C44F20C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528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9B8CE"/>
                </a:solidFill>
              </a:defRPr>
            </a:pPr>
            <a:r>
              <a:rPr sz="1200" b="0">
                <a:solidFill>
                  <a:srgbClr val="A9B8CE"/>
                </a:solidFill>
              </a:rPr>
              <a:t>Video gọi đúng vấn đề</a:t>
            </a:r>
          </a:p>
          <a:p xmlns:a="http://schemas.openxmlformats.org/drawingml/2006/main">
            <a:pPr>
              <a:defRPr sz="1200" b="0">
                <a:solidFill>
                  <a:srgbClr val="A9B8CE"/>
                </a:solidFill>
              </a:defRPr>
            </a:pPr>
            <a:r>
              <a:rPr sz="1200" b="0">
                <a:solidFill>
                  <a:srgbClr val="A9B8CE"/>
                </a:solidFill>
              </a:rPr>
              <a:t>và tạo niềm tin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F72825-CA98-46E6-B2E7-62251379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24100"/>
            <a:ext cx="22669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26436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1DE0B2-6D4F-4E1E-B4B8-3E9D1B56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BE981D-21F5-4A65-ACEC-44F469D2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33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ĐÚNG SẢN PHẨM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2AEBCD-DFCB-4E08-9A80-4F374712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528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9B8CE"/>
                </a:solidFill>
              </a:defRPr>
            </a:pPr>
            <a:r>
              <a:rPr sz="1200" b="0">
                <a:solidFill>
                  <a:srgbClr val="A9B8CE"/>
                </a:solidFill>
              </a:rPr>
              <a:t>Dễ hiểu, dễ mua,</a:t>
            </a:r>
          </a:p>
          <a:p xmlns:a="http://schemas.openxmlformats.org/drawingml/2006/main">
            <a:pPr>
              <a:defRPr sz="1200" b="0">
                <a:solidFill>
                  <a:srgbClr val="A9B8CE"/>
                </a:solidFill>
              </a:defRPr>
            </a:pPr>
            <a:r>
              <a:rPr sz="1200" b="0">
                <a:solidFill>
                  <a:srgbClr val="A9B8CE"/>
                </a:solidFill>
              </a:rPr>
              <a:t>nhà bán đáng tin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77B838-FE92-4C57-9429-68F11CA4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24100"/>
            <a:ext cx="22669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26436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64344B-D2E8-4AA4-8270-A2E5AA42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336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80A33D-5CA8-47FE-94E4-924DD344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33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ĐÚNG SỐ LIỆU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BA6A91-3A19-4959-9D59-49336885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528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9B8CE"/>
                </a:solidFill>
              </a:defRPr>
            </a:pPr>
            <a:r>
              <a:rPr sz="1200" b="0">
                <a:solidFill>
                  <a:srgbClr val="A9B8CE"/>
                </a:solidFill>
              </a:rPr>
              <a:t>Đo được click, đơn</a:t>
            </a:r>
          </a:p>
          <a:p xmlns:a="http://schemas.openxmlformats.org/drawingml/2006/main">
            <a:pPr>
              <a:defRPr sz="1200" b="0">
                <a:solidFill>
                  <a:srgbClr val="A9B8CE"/>
                </a:solidFill>
              </a:defRPr>
            </a:pPr>
            <a:r>
              <a:rPr sz="1200" b="0">
                <a:solidFill>
                  <a:srgbClr val="A9B8CE"/>
                </a:solidFill>
              </a:rPr>
              <a:t>và hoa hồng thực nhận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264AEE-2397-4F22-AE23-71A148D5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Doanh thu = Lượt xem × Tỷ lệ click × Tỷ lệ chuyển đổi × Hoa hồng/đơn</a:t>
            </a:r>
          </a:p>
        </p:txBody>
      </p:sp>
    </p:spTree>
    <p:extLst>
      <p:ext uri="{BB962C8B-B14F-4D97-AF65-F5344CB8AC3E}">
        <p14:creationId xmlns:p14="http://schemas.microsoft.com/office/powerpoint/2010/main" val="7572304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245D34-6B99-4F8E-914D-500D5AAE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36438E-8564-4B3A-83B4-1C46670C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2D3EE"/>
                </a:solidFill>
              </a:defRPr>
            </a:pPr>
            <a:r>
              <a:rPr sz="900" b="1">
                <a:solidFill>
                  <a:srgbClr val="22D3EE"/>
                </a:solidFill>
              </a:rPr>
              <a:t>NỀN MÓNG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16C1E-2322-4C61-B554-660B622B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A9B8CE"/>
                </a:solidFill>
              </a:defRPr>
            </a:pPr>
            <a:r>
              <a:rPr sz="900" b="1">
                <a:solidFill>
                  <a:srgbClr val="A9B8CE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593A4-D061-4353-9A44-F0175D54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Chọn ngách trước khi mở công cụ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2518C-1F32-4E63-B6FF-0DFC0434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9B8CE"/>
                </a:solidFill>
              </a:defRPr>
            </a:pPr>
            <a:r>
              <a:rPr sz="1275" b="0">
                <a:solidFill>
                  <a:srgbClr val="A9B8CE"/>
                </a:solidFill>
              </a:rPr>
              <a:t>AI giúp sản xuất nhanh. Ngách, tệp và sản phẩm quyết định hướng đi.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B94B8-3478-41CD-8C8C-CBF353B7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2575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26436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09171-815B-4F92-8E28-9E2F0B08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66675" cy="2857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6EFDAD-1AF2-483F-9E14-6E605FDD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1. Tệp khách hàng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EB17CF-3531-4BAE-B92B-C3119774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28384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9B8CE"/>
                </a:solidFill>
              </a:defRPr>
            </a:pPr>
            <a:r>
              <a:rPr sz="1125" b="0">
                <a:solidFill>
                  <a:srgbClr val="A9B8CE"/>
                </a:solidFill>
              </a:rPr>
              <a:t>Họ là ai?</a:t>
            </a:r>
          </a:p>
          <a:p xmlns:a="http://schemas.openxmlformats.org/drawingml/2006/main">
            <a:pPr>
              <a:defRPr sz="1125" b="0">
                <a:solidFill>
                  <a:srgbClr val="A9B8CE"/>
                </a:solidFill>
              </a:defRPr>
            </a:pPr>
            <a:r>
              <a:rPr sz="1125" b="0">
                <a:solidFill>
                  <a:srgbClr val="A9B8CE"/>
                </a:solidFill>
              </a:rPr>
              <a:t>Họ đang gặp vấn đề gì?</a:t>
            </a:r>
          </a:p>
          <a:p xmlns:a="http://schemas.openxmlformats.org/drawingml/2006/main">
            <a:pPr>
              <a:defRPr sz="1125" b="0">
                <a:solidFill>
                  <a:srgbClr val="A9B8CE"/>
                </a:solidFill>
              </a:defRPr>
            </a:pPr>
            <a:r>
              <a:rPr sz="1125" b="0">
                <a:solidFill>
                  <a:srgbClr val="A9B8CE"/>
                </a:solidFill>
              </a:rPr>
              <a:t>Họ dùng nền tảng nào?</a:t>
            </a:r>
          </a:p>
          <a:p xmlns:a="http://schemas.openxmlformats.org/drawingml/2006/main">
            <a:pPr>
              <a:defRPr sz="1125" b="0">
                <a:solidFill>
                  <a:srgbClr val="A9B8CE"/>
                </a:solidFill>
              </a:defRPr>
            </a:pPr>
            <a:r>
              <a:rPr sz="1125" b="0">
                <a:solidFill>
                  <a:srgbClr val="A9B8CE"/>
                </a:solidFill>
              </a:rPr>
              <a:t>Họ quyết định mua vì điều gì?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0BECF4-8799-42DB-8C48-2656280B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076450"/>
            <a:ext cx="32575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26436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744585-ED13-479F-BC76-C5BC4869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076450"/>
            <a:ext cx="66675" cy="2857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2F728C-46A5-4213-B366-474CC33F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860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2. Vấn đề lặp lại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0E1D9C-5811-4877-8AFA-39B16884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628900"/>
            <a:ext cx="28384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9B8CE"/>
                </a:solidFill>
              </a:defRPr>
            </a:pPr>
            <a:r>
              <a:rPr sz="1125" b="0">
                <a:solidFill>
                  <a:srgbClr val="A9B8CE"/>
                </a:solidFill>
              </a:rPr>
              <a:t>Ưu tiên vấn đề xảy ra thường xuyên, có nhu cầu tìm hiểu và dễ minh họa bằng video.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05D8BA-BD1F-43B8-BA73-1F8F8F2D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76450"/>
            <a:ext cx="32575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26436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E3386F-2B63-44F7-9713-243B4705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76450"/>
            <a:ext cx="66675" cy="2857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10FA9B-4E86-4EDD-B537-AC80F71D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860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3. Nhóm sản phẩm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A7A944-FEDB-4827-B012-D54D670F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28900"/>
            <a:ext cx="28384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9B8CE"/>
                </a:solidFill>
              </a:defRPr>
            </a:pPr>
            <a:r>
              <a:rPr sz="1125" b="0">
                <a:solidFill>
                  <a:srgbClr val="A9B8CE"/>
                </a:solidFill>
              </a:rPr>
              <a:t>Có nhu cầu, biên hoa hồng phù hợp, ít biến thể phức tạp và đủ ý tưởng cho 20–50 video.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A7045A-5D69-4AAF-9D65-73B24B1C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Ví dụ định vị: “Tôi giúp người ở trọ chọn đồ gia dụng nhỏ gọn, tiết kiệm và dễ dùng.”</a:t>
            </a:r>
          </a:p>
        </p:txBody>
      </p:sp>
    </p:spTree>
    <p:extLst>
      <p:ext uri="{BB962C8B-B14F-4D97-AF65-F5344CB8AC3E}">
        <p14:creationId xmlns:p14="http://schemas.microsoft.com/office/powerpoint/2010/main" val="18900056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95424D-BEF8-4E9D-A54A-EF08D3EA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6DF41-0687-417B-933B-51D971CF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2D3EE"/>
                </a:solidFill>
              </a:defRPr>
            </a:pPr>
            <a:r>
              <a:rPr sz="900" b="1">
                <a:solidFill>
                  <a:srgbClr val="22D3EE"/>
                </a:solidFill>
              </a:rPr>
              <a:t>CHỌN SẢN PHẨM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999D43-DE6A-451C-A758-2FB05157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A9B8CE"/>
                </a:solidFill>
              </a:defRPr>
            </a:pPr>
            <a:r>
              <a:rPr sz="900" b="1">
                <a:solidFill>
                  <a:srgbClr val="A9B8CE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8BB1D-52D1-48FB-A977-8AE2FFB6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Sản phẩm tốt giảm ma sát chuyển đổi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322088-5608-4BF2-8CAC-B69C2B96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9B8CE"/>
                </a:solidFill>
              </a:defRPr>
            </a:pPr>
            <a:r>
              <a:rPr sz="1275" b="0">
                <a:solidFill>
                  <a:srgbClr val="A9B8CE"/>
                </a:solidFill>
              </a:rPr>
              <a:t>Đừng chỉ nhìn mức hoa hồng. Hãy chấm sản phẩm trước khi làm nội dung.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1E623-DADA-46C9-B0E7-DDF1F26A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300990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26436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5DF41-D403-49EF-9DFF-B3E1E57A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6572E3-6990-47EF-9C07-0F29F9B7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76450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Nhu cầu thật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B1246C-0598-4099-B3FC-8438AC9E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7645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9B8CE"/>
                </a:solidFill>
              </a:defRPr>
            </a:pPr>
            <a:r>
              <a:rPr sz="1200" b="0">
                <a:solidFill>
                  <a:srgbClr val="A9B8CE"/>
                </a:solidFill>
              </a:rPr>
              <a:t>Khách có chủ động tìm hoặc hỏi về nó?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75878-A66C-4AED-AAE5-BB81878A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05075"/>
            <a:ext cx="10439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436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2418B1-6BCB-4A71-BD27-6FC75046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4D3CF4-2922-44F9-830F-6F7F0419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19375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Dễ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9E6A15-B9CA-4EEE-8CC8-339CC916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19375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9B8CE"/>
                </a:solidFill>
              </a:defRPr>
            </a:pPr>
            <a:r>
              <a:rPr sz="1200" b="0">
                <a:solidFill>
                  <a:srgbClr val="A9B8CE"/>
                </a:solidFill>
              </a:rPr>
              <a:t>Người xem có hiểu lợi ích ngay trong video?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C753C4-AFAD-450D-B583-6E8A5B34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10439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436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3C6F9F-F1D6-4932-A5D0-8E6A8ED9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27B78C-09F6-4EDF-AE47-4A59BA6A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62300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Dễ mua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E108F9-2BDB-4FD0-BB23-01A5C693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6230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9B8CE"/>
                </a:solidFill>
              </a:defRPr>
            </a:pPr>
            <a:r>
              <a:rPr sz="1200" b="0">
                <a:solidFill>
                  <a:srgbClr val="A9B8CE"/>
                </a:solidFill>
              </a:rPr>
              <a:t>Ít size, mã, màu và bước tư vấn phức tạp?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A3D00E-0A33-4A1C-A6AC-5F05B77E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90925"/>
            <a:ext cx="10439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436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D0DB3B-CF6B-42A5-9A0B-5D758910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052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A9CDFA-98EB-48B9-80FD-13A3DF20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05225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Nhà bán ổn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44F819-4B0D-428E-9D51-DEF99799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05225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9B8CE"/>
                </a:solidFill>
              </a:defRPr>
            </a:pPr>
            <a:r>
              <a:rPr sz="1200" b="0">
                <a:solidFill>
                  <a:srgbClr val="A9B8CE"/>
                </a:solidFill>
              </a:rPr>
              <a:t>Review, tồn kho, giao hàng và tỷ lệ hoàn ổn?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CB68AC-5E5F-462C-AC7C-E3BC81EE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10439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436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48CCFE-E255-4F31-B6CB-2FB7A535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BBF6F9-836F-4C1F-80CD-C1536F92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48150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Làm dài hạn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1EC258-3BA8-4B09-9D48-DE775F32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24815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9B8CE"/>
                </a:solidFill>
              </a:defRPr>
            </a:pPr>
            <a:r>
              <a:rPr sz="1200" b="0">
                <a:solidFill>
                  <a:srgbClr val="A9B8CE"/>
                </a:solidFill>
              </a:rPr>
              <a:t>Có thể làm 20–50 góc nội dung?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F28CBC-983E-4ACD-AC2B-CF02E71D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34D399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4D399"/>
                </a:solidFill>
              </a:defRPr>
            </a:pPr>
            <a:r>
              <a:rPr sz="1650" b="1">
                <a:solidFill>
                  <a:srgbClr val="34D399"/>
                </a:solidFill>
              </a:rPr>
              <a:t>Nguyên tắc cho free traffic: sản phẩm càng dễ hiểu, dễ tin và dễ mua thì càng dễ chốt.</a:t>
            </a:r>
          </a:p>
        </p:txBody>
      </p:sp>
    </p:spTree>
    <p:extLst>
      <p:ext uri="{BB962C8B-B14F-4D97-AF65-F5344CB8AC3E}">
        <p14:creationId xmlns:p14="http://schemas.microsoft.com/office/powerpoint/2010/main" val="1186113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65BD04-80F2-4400-AFC7-FACD9E17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6E945-BB4B-44D8-AD95-7EF5E74C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2D3EE"/>
                </a:solidFill>
              </a:defRPr>
            </a:pPr>
            <a:r>
              <a:rPr sz="900" b="1">
                <a:solidFill>
                  <a:srgbClr val="22D3EE"/>
                </a:solidFill>
              </a:rPr>
              <a:t>HỆ THỐNG NỘI DUNG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6263F-75FC-47D5-9B95-5110A7F0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A9B8CE"/>
                </a:solidFill>
              </a:defRPr>
            </a:pPr>
            <a:r>
              <a:rPr sz="900" b="1">
                <a:solidFill>
                  <a:srgbClr val="A9B8CE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989A0-3F53-4DF5-8C17-08DD513C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Một sản phẩm cần nhiều góc nội dung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15DE3E-573A-4639-BA0A-6D64D739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9B8CE"/>
                </a:solidFill>
              </a:defRPr>
            </a:pPr>
            <a:r>
              <a:rPr sz="1275" b="0">
                <a:solidFill>
                  <a:srgbClr val="A9B8CE"/>
                </a:solidFill>
              </a:rPr>
              <a:t>Không đợi một video viral. Hãy xây thư viện nội dung có thể test và nhân bản.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7436C1-A1B1-4A3A-8676-09C8E3B4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86690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26436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98753-5F58-43D2-A495-63730E09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081B5-2F41-4B5C-8A49-6DF0D30E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62275"/>
            <a:ext cx="144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Kéo người lạ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287F62-009E-4FE5-B7BE-2D230491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3377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9B8CE"/>
                </a:solidFill>
              </a:defRPr>
            </a:pPr>
            <a:r>
              <a:rPr sz="1050" b="0">
                <a:solidFill>
                  <a:srgbClr val="A9B8CE"/>
                </a:solidFill>
              </a:rPr>
              <a:t>Sai lầm, vấn đề, mẹo, quan điểm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64E86-829B-41C2-99CF-ACEA80F8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00300"/>
            <a:ext cx="186690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26436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C1508-7CF6-4E68-A0C0-E0CF27A1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717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FAAC3B-6059-4585-AA68-6F6CCA99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62275"/>
            <a:ext cx="144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Xây niềm tin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63EFA7-06D0-47A1-9900-7430FF32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3377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9B8CE"/>
                </a:solidFill>
              </a:defRPr>
            </a:pPr>
            <a:r>
              <a:rPr sz="1050" b="0">
                <a:solidFill>
                  <a:srgbClr val="A9B8CE"/>
                </a:solidFill>
              </a:rPr>
              <a:t>Hướng dẫn, so sánh, giải thích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76F574-A023-446B-903E-6D0C4544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00300"/>
            <a:ext cx="186690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4365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03D712-8043-4348-815B-95895387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717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88EE53-55CF-4B89-ABDC-6C52C352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62275"/>
            <a:ext cx="144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Tạo nhu cầu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E2A5E3-9382-4D2C-A510-B7B488A3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3377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9B8CE"/>
                </a:solidFill>
              </a:defRPr>
            </a:pPr>
            <a:r>
              <a:rPr sz="1050" b="0">
                <a:solidFill>
                  <a:srgbClr val="A9B8CE"/>
                </a:solidFill>
              </a:rPr>
              <a:t>Tình huống dùng, trước–sau, 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BB3D6B-7A52-4003-945A-9B0E54F9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186690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26436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77E482-E415-4ABE-8380-40D334E2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717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BFA2B4-5433-4641-A5CE-C434A125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62275"/>
            <a:ext cx="144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Chốt đơn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0C1F91-EE49-4181-A2E0-C54069CF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3377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9B8CE"/>
                </a:solidFill>
              </a:defRPr>
            </a:pPr>
            <a:r>
              <a:rPr sz="1050" b="0">
                <a:solidFill>
                  <a:srgbClr val="A9B8CE"/>
                </a:solidFill>
              </a:rPr>
              <a:t>Review thật, ưu–nhược điểm, ưu đãi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57CD4F-2689-4F20-B2E8-7829457F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86690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26436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F65A79-E6B6-41FA-B47D-0E27FCA7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717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4A5C95-A2E7-41BE-832A-61A74751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62275"/>
            <a:ext cx="144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Giữ cộng đồng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03A153-EDEE-498C-8E1E-C1E98E33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53377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9B8CE"/>
                </a:solidFill>
              </a:defRPr>
            </a:pPr>
            <a:r>
              <a:rPr sz="1050" b="0">
                <a:solidFill>
                  <a:srgbClr val="A9B8CE"/>
                </a:solidFill>
              </a:rPr>
              <a:t>Trả lời bình luận, Q&amp;A, series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311163-3E1B-4A1A-9295-F0A0A7AE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Một video chỉ nên có một nhiệm vụ chính.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71CBBC-CA08-4005-96FC-35A00445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9B8CE"/>
                </a:solidFill>
              </a:defRPr>
            </a:pPr>
            <a:r>
              <a:rPr sz="1275" b="0">
                <a:solidFill>
                  <a:srgbClr val="A9B8CE"/>
                </a:solidFill>
              </a:rPr>
              <a:t>Lấy bình luận của khách làm nguồn ý tưởng cho video kế tiếp.</a:t>
            </a:r>
          </a:p>
        </p:txBody>
      </p:sp>
    </p:spTree>
    <p:extLst>
      <p:ext uri="{BB962C8B-B14F-4D97-AF65-F5344CB8AC3E}">
        <p14:creationId xmlns:p14="http://schemas.microsoft.com/office/powerpoint/2010/main" val="14361106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1CA0D2-1651-46B2-9F6F-4837EEBC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0ED475-12A6-4F9F-92AD-6D25A7F0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2D3EE"/>
                </a:solidFill>
              </a:defRPr>
            </a:pPr>
            <a:r>
              <a:rPr sz="900" b="1">
                <a:solidFill>
                  <a:srgbClr val="22D3EE"/>
                </a:solidFill>
              </a:rPr>
              <a:t>KỊCH BẢN VIDEO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99861-0E1F-4D6B-99A0-AA77ECAF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A9B8CE"/>
                </a:solidFill>
              </a:defRPr>
            </a:pPr>
            <a:r>
              <a:rPr sz="900" b="1">
                <a:solidFill>
                  <a:srgbClr val="A9B8CE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1F429-C509-4F9D-839F-9613DE7D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Công thức video ngắn có khả năng bán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CEE63-2B35-4E75-B4E6-E990EB94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9B8CE"/>
                </a:solidFill>
              </a:defRPr>
            </a:pPr>
            <a:r>
              <a:rPr sz="1275" b="0">
                <a:solidFill>
                  <a:srgbClr val="A9B8CE"/>
                </a:solidFill>
              </a:rPr>
              <a:t>Mỗi đoạn phải đẩy người xem đi tiếp, không chỉ để “đủ kịch bản”.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A3D6ED-70EC-4F9B-89BD-24783356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762125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F38498-E6DA-4F9A-856C-FE1D5090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38425"/>
            <a:ext cx="1419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2D3EE"/>
                </a:solidFill>
              </a:defRPr>
            </a:pPr>
            <a:r>
              <a:rPr sz="1350" b="1">
                <a:solidFill>
                  <a:srgbClr val="22D3EE"/>
                </a:solidFill>
              </a:rPr>
              <a:t>HOOK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7338B0-623C-485B-8321-D01CEE5B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527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Gọi đúng vấn đề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trong 1–3 giây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B7B00-313C-4896-A268-5AF2AB52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00375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A9B8CE"/>
                </a:solidFill>
              </a:defRPr>
            </a:pPr>
            <a:r>
              <a:rPr sz="2700" b="1">
                <a:solidFill>
                  <a:srgbClr val="A9B8CE"/>
                </a:solidFill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B2043-DD1F-4D10-9EA1-16E9AB5A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81250"/>
            <a:ext cx="1762125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760254-7C7C-4ABE-B49E-F9A613C2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638425"/>
            <a:ext cx="1419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3B82F6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3B82F6"/>
                </a:solidFill>
              </a:defRPr>
            </a:pPr>
            <a:r>
              <a:rPr sz="1350" b="1">
                <a:solidFill>
                  <a:srgbClr val="3B82F6"/>
                </a:solidFill>
              </a:rPr>
              <a:t>GIỮ XEM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5D39CD-0919-427E-A135-3341180E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1527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Hình ảnh, câu chuyện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hoặc tình huống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A7AD89-637F-4786-8BA3-86CAA334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00375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A9B8CE"/>
                </a:solidFill>
              </a:defRPr>
            </a:pPr>
            <a:r>
              <a:rPr sz="2700" b="1">
                <a:solidFill>
                  <a:srgbClr val="A9B8CE"/>
                </a:solidFill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819894-594B-4FD6-9E56-48EFB6E7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81250"/>
            <a:ext cx="1762125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51CE62-C4FD-4C57-AC68-10933078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38425"/>
            <a:ext cx="1419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8B5CF6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8B5CF6"/>
                </a:solidFill>
              </a:defRPr>
            </a:pPr>
            <a:r>
              <a:rPr sz="1350" b="1">
                <a:solidFill>
                  <a:srgbClr val="8B5CF6"/>
                </a:solidFill>
              </a:rPr>
              <a:t>GIẢI PHÁP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10C0D4-FD32-48B3-A4AD-64456645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527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Đưa sản phẩm vào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như một lời giải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66EAFE-F0EC-48AD-9695-B1923A7A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00375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A9B8CE"/>
                </a:solidFill>
              </a:defRPr>
            </a:pPr>
            <a:r>
              <a:rPr sz="2700" b="1">
                <a:solidFill>
                  <a:srgbClr val="A9B8CE"/>
                </a:solidFill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9660DD-CF9F-45BD-B159-79F58D31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81250"/>
            <a:ext cx="1762125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FB923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33AAF1-08AC-44CB-975D-5109724A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638425"/>
            <a:ext cx="1419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B923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B923C"/>
                </a:solidFill>
              </a:defRPr>
            </a:pPr>
            <a:r>
              <a:rPr sz="1350" b="1">
                <a:solidFill>
                  <a:srgbClr val="FB923C"/>
                </a:solidFill>
              </a:rPr>
              <a:t>BẰNG CHỨNG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285478-21F9-4802-8FAA-F294B729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1527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Demo, so sánh,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ưu và nhược điểm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D9169B-94ED-4CC8-BF63-B98010F9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00375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A9B8CE"/>
                </a:solidFill>
              </a:defRPr>
            </a:pPr>
            <a:r>
              <a:rPr sz="2700" b="1">
                <a:solidFill>
                  <a:srgbClr val="A9B8CE"/>
                </a:solidFill>
              </a:rPr>
              <a:t>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C638B1-E526-4408-91D8-93288557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81250"/>
            <a:ext cx="1762125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DA1B21-7470-4393-87F9-4BAB3ED8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38425"/>
            <a:ext cx="1419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34D399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34D399"/>
                </a:solidFill>
              </a:defRPr>
            </a:pPr>
            <a:r>
              <a:rPr sz="1350" b="1">
                <a:solidFill>
                  <a:srgbClr val="34D399"/>
                </a:solidFill>
              </a:rPr>
              <a:t>CTA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47AB85-F2D0-4B33-A10E-B98939B0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527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Một hành động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rõ ràng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5CF8C7-84B3-4B44-BA85-83BAA372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Ví dụ hook: “Đừng mua máy hút bụi mini nếu phòng bạn thuộc kiểu này.”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3DB85A-8268-4947-9307-F3D12B4A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530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9B8CE"/>
                </a:solidFill>
              </a:defRPr>
            </a:pPr>
            <a:r>
              <a:rPr sz="1200" b="0">
                <a:solidFill>
                  <a:srgbClr val="A9B8CE"/>
                </a:solidFill>
              </a:rPr>
              <a:t>AI tạo bản nháp nhanh. Góc nhìn, nhận xét và tiêu chuẩn chọn hàng của bạn tạo niềm tin.</a:t>
            </a:r>
          </a:p>
        </p:txBody>
      </p:sp>
    </p:spTree>
    <p:extLst>
      <p:ext uri="{BB962C8B-B14F-4D97-AF65-F5344CB8AC3E}">
        <p14:creationId xmlns:p14="http://schemas.microsoft.com/office/powerpoint/2010/main" val="4285264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A71257-5329-4314-B9E4-9FD2415B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54773-2104-4B03-AB03-99DFA522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2D3EE"/>
                </a:solidFill>
              </a:defRPr>
            </a:pPr>
            <a:r>
              <a:rPr sz="900" b="1">
                <a:solidFill>
                  <a:srgbClr val="22D3EE"/>
                </a:solidFill>
              </a:rPr>
              <a:t>QUY TRÌNH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1D1690-35B6-4770-9C02-59379757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A9B8CE"/>
                </a:solidFill>
              </a:defRPr>
            </a:pPr>
            <a:r>
              <a:rPr sz="900" b="1">
                <a:solidFill>
                  <a:srgbClr val="A9B8CE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2959B-8199-4315-B8DE-D2F975BD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AI biến một người thành một dây chuyền nội dung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2A045-5AD7-4A69-B37E-47CF3EF0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9B8CE"/>
                </a:solidFill>
              </a:defRPr>
            </a:pPr>
            <a:r>
              <a:rPr sz="1275" b="0">
                <a:solidFill>
                  <a:srgbClr val="A9B8CE"/>
                </a:solidFill>
              </a:rPr>
              <a:t>Dùng AI để tăng số lần thử nghiệm, không để tạo hàng loạt video vô hồn.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20DADB-9F98-429F-991F-092A017C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B449E-BC81-490F-9557-BD768CBF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Nghiên cứu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141B9-E174-4971-8D9F-295EF95B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638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9B8CE"/>
                </a:solidFill>
              </a:defRPr>
            </a:pPr>
            <a:r>
              <a:rPr sz="1125" b="0">
                <a:solidFill>
                  <a:srgbClr val="A9B8CE"/>
                </a:solidFill>
              </a:rPr>
              <a:t>Insight, câu hỏi</a:t>
            </a:r>
          </a:p>
          <a:p xmlns:a="http://schemas.openxmlformats.org/drawingml/2006/main">
            <a:pPr>
              <a:defRPr sz="1125" b="0">
                <a:solidFill>
                  <a:srgbClr val="A9B8CE"/>
                </a:solidFill>
              </a:defRPr>
            </a:pPr>
            <a:r>
              <a:rPr sz="1125" b="0">
                <a:solidFill>
                  <a:srgbClr val="A9B8CE"/>
                </a:solidFill>
              </a:rPr>
              <a:t>và bình luận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7EE155-CECE-4A32-B1B9-E29EC5F5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28950"/>
            <a:ext cx="3143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2D3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57B0C1-2D9E-4DB8-9C96-9DCF54C8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81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F0822B-B29D-4A93-A1CC-FFE852F5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241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Lên ý tưởng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805DCC-8EB0-4102-B53A-E022304A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43250"/>
            <a:ext cx="1638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9B8CE"/>
                </a:solidFill>
              </a:defRPr>
            </a:pPr>
            <a:r>
              <a:rPr sz="1125" b="0">
                <a:solidFill>
                  <a:srgbClr val="A9B8CE"/>
                </a:solidFill>
              </a:rPr>
              <a:t>50 hook theo</a:t>
            </a:r>
          </a:p>
          <a:p xmlns:a="http://schemas.openxmlformats.org/drawingml/2006/main">
            <a:pPr>
              <a:defRPr sz="1125" b="0">
                <a:solidFill>
                  <a:srgbClr val="A9B8CE"/>
                </a:solidFill>
              </a:defRPr>
            </a:pPr>
            <a:r>
              <a:rPr sz="1125" b="0">
                <a:solidFill>
                  <a:srgbClr val="A9B8CE"/>
                </a:solidFill>
              </a:rPr>
              <a:t>1 sản phẩm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579CDC-DEB5-43FA-925C-007BF797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28950"/>
            <a:ext cx="3143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2D3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E4A169-2866-4478-B6B3-8BD74D2E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81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10EA59-4DF4-4444-8435-D2BB2124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241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Viết kịch bản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9DFC03-7B19-4409-AFD2-E6D5C1D9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43250"/>
            <a:ext cx="1638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9B8CE"/>
                </a:solidFill>
              </a:defRPr>
            </a:pPr>
            <a:r>
              <a:rPr sz="1125" b="0">
                <a:solidFill>
                  <a:srgbClr val="A9B8CE"/>
                </a:solidFill>
              </a:rPr>
              <a:t>Hook, lời thoại,</a:t>
            </a:r>
          </a:p>
          <a:p xmlns:a="http://schemas.openxmlformats.org/drawingml/2006/main">
            <a:pPr>
              <a:defRPr sz="1125" b="0">
                <a:solidFill>
                  <a:srgbClr val="A9B8CE"/>
                </a:solidFill>
              </a:defRPr>
            </a:pPr>
            <a:r>
              <a:rPr sz="1125" b="0">
                <a:solidFill>
                  <a:srgbClr val="A9B8CE"/>
                </a:solidFill>
              </a:rPr>
              <a:t>shot list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24F86F-2AE4-4160-890C-65AA42F0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28950"/>
            <a:ext cx="3143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2D3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88EF6E-1208-4A48-936D-745F8AED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81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6BCAC0-0FD5-4B27-BBF0-3B5FF315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241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Sản xuất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F494DD-4EFB-4B69-8629-A5D882F9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43250"/>
            <a:ext cx="1638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9B8CE"/>
                </a:solidFill>
              </a:defRPr>
            </a:pPr>
            <a:r>
              <a:rPr sz="1125" b="0">
                <a:solidFill>
                  <a:srgbClr val="A9B8CE"/>
                </a:solidFill>
              </a:rPr>
              <a:t>Voice, hình, video,</a:t>
            </a:r>
          </a:p>
          <a:p xmlns:a="http://schemas.openxmlformats.org/drawingml/2006/main">
            <a:pPr>
              <a:defRPr sz="1125" b="0">
                <a:solidFill>
                  <a:srgbClr val="A9B8CE"/>
                </a:solidFill>
              </a:defRPr>
            </a:pPr>
            <a:r>
              <a:rPr sz="1125" b="0">
                <a:solidFill>
                  <a:srgbClr val="A9B8CE"/>
                </a:solidFill>
              </a:rPr>
              <a:t>phụ đề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CDF861-FC59-4B17-BEA2-F3BBB0F3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28950"/>
            <a:ext cx="3143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2D3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C982CC-725A-48E4-AB90-FEC4B0BD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81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B46F9-93C0-476B-93AA-3D60F09C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241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Đo &amp; lặp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020CCF-2F18-4DCE-ADED-CD2CF10C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43250"/>
            <a:ext cx="1638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9B8CE"/>
                </a:solidFill>
              </a:defRPr>
            </a:pPr>
            <a:r>
              <a:rPr sz="1125" b="0">
                <a:solidFill>
                  <a:srgbClr val="A9B8CE"/>
                </a:solidFill>
              </a:rPr>
              <a:t>Giữ cái thắng,</a:t>
            </a:r>
          </a:p>
          <a:p xmlns:a="http://schemas.openxmlformats.org/drawingml/2006/main">
            <a:pPr>
              <a:defRPr sz="1125" b="0">
                <a:solidFill>
                  <a:srgbClr val="A9B8CE"/>
                </a:solidFill>
              </a:defRPr>
            </a:pPr>
            <a:r>
              <a:rPr sz="1125" b="0">
                <a:solidFill>
                  <a:srgbClr val="A9B8CE"/>
                </a:solidFill>
              </a:rPr>
              <a:t>sửa cái yếu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C79D6F-B147-4AD9-818E-3D06458F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02C48"/>
          </a:solidFill>
          <a:ln xmlns:a="http://schemas.openxmlformats.org/drawingml/2006/main" w="9525">
            <a:solidFill>
              <a:srgbClr val="26436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E41F01-6124-4BF6-86C1-EBACB586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14875"/>
            <a:ext cx="10363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Kiểm tra trước khi đăng: video có đúng tệp, có thông tin thật, có lời kêu gọi hành động và có dấu hiệu nhận diện kênh?</a:t>
            </a:r>
          </a:p>
        </p:txBody>
      </p:sp>
    </p:spTree>
    <p:extLst>
      <p:ext uri="{BB962C8B-B14F-4D97-AF65-F5344CB8AC3E}">
        <p14:creationId xmlns:p14="http://schemas.microsoft.com/office/powerpoint/2010/main" val="17013246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05745A-0A93-4AD7-BD0D-1E57C7BF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1AEBE7-9C9E-4746-9427-B8665569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2D3EE"/>
                </a:solidFill>
              </a:defRPr>
            </a:pPr>
            <a:r>
              <a:rPr sz="900" b="1">
                <a:solidFill>
                  <a:srgbClr val="22D3EE"/>
                </a:solidFill>
              </a:rPr>
              <a:t>PHÂN PHỐI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4BDF8F-C5CD-45A5-B88B-EFA69A9B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A9B8CE"/>
                </a:solidFill>
              </a:defRPr>
            </a:pPr>
            <a:r>
              <a:rPr sz="900" b="1">
                <a:solidFill>
                  <a:srgbClr val="A9B8CE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0B9D9-DFD6-4591-94C3-1849AA9A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Cùng một ý tưởng, cách đóng gói khác nhau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25FC02-728E-4FF2-9256-24CEC214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9B8CE"/>
                </a:solidFill>
              </a:defRPr>
            </a:pPr>
            <a:r>
              <a:rPr sz="1275" b="0">
                <a:solidFill>
                  <a:srgbClr val="A9B8CE"/>
                </a:solidFill>
              </a:rPr>
              <a:t>Hành vi người dùng quyết định format, hook, text và CTA.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D9C904-F758-44AC-AAE4-AC92A16D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238500" cy="2609850"/>
          </a:xfrm>
          <a:prstGeom xmlns:a="http://schemas.openxmlformats.org/drawingml/2006/main" prst="roundRect">
            <a:avLst>
              <a:gd name="adj" fmla="val 4380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26436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ED8CBF-8DF2-493A-BDB3-D52C9C46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66675" cy="2609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393EC-5BCB-440A-8E81-742B2DED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2838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TikTok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0D4DF6-20B4-4EBD-834D-BB90E16A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28194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9B8CE"/>
                </a:solidFill>
              </a:defRPr>
            </a:pPr>
            <a:r>
              <a:rPr sz="1125" b="0">
                <a:solidFill>
                  <a:srgbClr val="A9B8CE"/>
                </a:solidFill>
              </a:rPr>
              <a:t>Khám phá và giữ chân</a:t>
            </a:r>
          </a:p>
          <a:p xmlns:a="http://schemas.openxmlformats.org/drawingml/2006/main">
            <a:pPr>
              <a:defRPr sz="1125" b="0">
                <a:solidFill>
                  <a:srgbClr val="A9B8CE"/>
                </a:solidFill>
              </a:defRPr>
            </a:pPr>
            <a:r>
              <a:rPr sz="1125" b="0">
                <a:solidFill>
                  <a:srgbClr val="A9B8CE"/>
                </a:solidFill>
              </a:rPr>
              <a:t>Hook nhanh, voice tự nhiên</a:t>
            </a:r>
          </a:p>
          <a:p xmlns:a="http://schemas.openxmlformats.org/drawingml/2006/main">
            <a:pPr>
              <a:defRPr sz="1125" b="0">
                <a:solidFill>
                  <a:srgbClr val="A9B8CE"/>
                </a:solidFill>
              </a:defRPr>
            </a:pPr>
            <a:r>
              <a:rPr sz="1125" b="0">
                <a:solidFill>
                  <a:srgbClr val="A9B8CE"/>
                </a:solidFill>
              </a:rPr>
              <a:t>Text nằm ngay trong video</a:t>
            </a:r>
          </a:p>
          <a:p xmlns:a="http://schemas.openxmlformats.org/drawingml/2006/main">
            <a:pPr>
              <a:defRPr sz="1125" b="0">
                <a:solidFill>
                  <a:srgbClr val="A9B8CE"/>
                </a:solidFill>
              </a:defRPr>
            </a:pPr>
            <a:r>
              <a:rPr sz="1125" b="0">
                <a:solidFill>
                  <a:srgbClr val="A9B8CE"/>
                </a:solidFill>
              </a:rPr>
              <a:t>Tận dụng trend nếu đúng tệp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D82E85-B348-4442-AADF-FE7EA463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33600"/>
            <a:ext cx="3238500" cy="2609850"/>
          </a:xfrm>
          <a:prstGeom xmlns:a="http://schemas.openxmlformats.org/drawingml/2006/main" prst="roundRect">
            <a:avLst>
              <a:gd name="adj" fmla="val 4380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26436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F71531-3FD3-4606-AF3B-DF80F035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33600"/>
            <a:ext cx="66675" cy="2609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5B8CF2-0570-4FF4-929D-C7BA3D68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43150"/>
            <a:ext cx="2838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Reels / Facebook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2256D-F6E6-4C49-892C-28B64CC1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86050"/>
            <a:ext cx="28194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9B8CE"/>
                </a:solidFill>
              </a:defRPr>
            </a:pPr>
            <a:r>
              <a:rPr sz="1125" b="0">
                <a:solidFill>
                  <a:srgbClr val="A9B8CE"/>
                </a:solidFill>
              </a:rPr>
              <a:t>Cộng đồng và bình luận</a:t>
            </a:r>
          </a:p>
          <a:p xmlns:a="http://schemas.openxmlformats.org/drawingml/2006/main">
            <a:pPr>
              <a:defRPr sz="1125" b="0">
                <a:solidFill>
                  <a:srgbClr val="A9B8CE"/>
                </a:solidFill>
              </a:defRPr>
            </a:pPr>
            <a:r>
              <a:rPr sz="1125" b="0">
                <a:solidFill>
                  <a:srgbClr val="A9B8CE"/>
                </a:solidFill>
              </a:rPr>
              <a:t>Quan điểm, câu chuyện, series</a:t>
            </a:r>
          </a:p>
          <a:p xmlns:a="http://schemas.openxmlformats.org/drawingml/2006/main">
            <a:pPr>
              <a:defRPr sz="1125" b="0">
                <a:solidFill>
                  <a:srgbClr val="A9B8CE"/>
                </a:solidFill>
              </a:defRPr>
            </a:pPr>
            <a:r>
              <a:rPr sz="1125" b="0">
                <a:solidFill>
                  <a:srgbClr val="A9B8CE"/>
                </a:solidFill>
              </a:rPr>
              <a:t>Kéo về fanpage hoặc group</a:t>
            </a:r>
          </a:p>
          <a:p xmlns:a="http://schemas.openxmlformats.org/drawingml/2006/main">
            <a:pPr>
              <a:defRPr sz="1125" b="0">
                <a:solidFill>
                  <a:srgbClr val="A9B8CE"/>
                </a:solidFill>
              </a:defRPr>
            </a:pPr>
            <a:r>
              <a:rPr sz="1125" b="0">
                <a:solidFill>
                  <a:srgbClr val="A9B8CE"/>
                </a:solidFill>
              </a:rPr>
              <a:t>Tận dụng phản hồi để làm video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2E5808-F675-4446-AF5D-9A34F46A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33600"/>
            <a:ext cx="3238500" cy="2609850"/>
          </a:xfrm>
          <a:prstGeom xmlns:a="http://schemas.openxmlformats.org/drawingml/2006/main" prst="roundRect">
            <a:avLst>
              <a:gd name="adj" fmla="val 4380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26436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8A86E5-E195-4AC9-914F-59EADE49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33600"/>
            <a:ext cx="66675" cy="2609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923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93CAD8-3DF3-4C79-979E-19E5F743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43150"/>
            <a:ext cx="2838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Instagram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742E48-CD23-4CB8-B1CB-2EDFCC49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86050"/>
            <a:ext cx="28194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9B8CE"/>
                </a:solidFill>
              </a:defRPr>
            </a:pPr>
            <a:r>
              <a:rPr sz="1125" b="0">
                <a:solidFill>
                  <a:srgbClr val="A9B8CE"/>
                </a:solidFill>
              </a:rPr>
              <a:t>Hình ảnh trực quan</a:t>
            </a:r>
          </a:p>
          <a:p xmlns:a="http://schemas.openxmlformats.org/drawingml/2006/main">
            <a:pPr>
              <a:defRPr sz="1125" b="0">
                <a:solidFill>
                  <a:srgbClr val="A9B8CE"/>
                </a:solidFill>
              </a:defRPr>
            </a:pPr>
            <a:r>
              <a:rPr sz="1125" b="0">
                <a:solidFill>
                  <a:srgbClr val="A9B8CE"/>
                </a:solidFill>
              </a:rPr>
              <a:t>Ưu tiên bố cục, hình, video</a:t>
            </a:r>
          </a:p>
          <a:p xmlns:a="http://schemas.openxmlformats.org/drawingml/2006/main">
            <a:pPr>
              <a:defRPr sz="1125" b="0">
                <a:solidFill>
                  <a:srgbClr val="A9B8CE"/>
                </a:solidFill>
              </a:defRPr>
            </a:pPr>
            <a:r>
              <a:rPr sz="1125" b="0">
                <a:solidFill>
                  <a:srgbClr val="A9B8CE"/>
                </a:solidFill>
              </a:rPr>
              <a:t>Thông tin chính hiện trên video</a:t>
            </a:r>
          </a:p>
          <a:p xmlns:a="http://schemas.openxmlformats.org/drawingml/2006/main">
            <a:pPr>
              <a:defRPr sz="1125" b="0">
                <a:solidFill>
                  <a:srgbClr val="A9B8CE"/>
                </a:solidFill>
              </a:defRPr>
            </a:pPr>
            <a:r>
              <a:rPr sz="1125" b="0">
                <a:solidFill>
                  <a:srgbClr val="A9B8CE"/>
                </a:solidFill>
              </a:rPr>
              <a:t>Caption không thay video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73AB5D-CEBF-44FC-AA9C-27561E5F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Dùng chung “ý tưởng”, không bê nguyên một video cho mọi nền tảng.</a:t>
            </a:r>
          </a:p>
        </p:txBody>
      </p:sp>
    </p:spTree>
    <p:extLst>
      <p:ext uri="{BB962C8B-B14F-4D97-AF65-F5344CB8AC3E}">
        <p14:creationId xmlns:p14="http://schemas.microsoft.com/office/powerpoint/2010/main" val="4540602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362132-07E9-49CD-9A99-E44CB964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B98CE-6446-4E87-BA50-9478AA76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2D3EE"/>
                </a:solidFill>
              </a:defRPr>
            </a:pPr>
            <a:r>
              <a:rPr sz="900" b="1">
                <a:solidFill>
                  <a:srgbClr val="22D3EE"/>
                </a:solidFill>
              </a:rPr>
              <a:t>ĐO LƯỜNG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A5845-1767-4D6A-8338-DE3C3417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A9B8CE"/>
                </a:solidFill>
              </a:defRPr>
            </a:pPr>
            <a:r>
              <a:rPr sz="900" b="1">
                <a:solidFill>
                  <a:srgbClr val="A9B8CE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D2F423-F7C3-4D5C-AFEC-E86AC797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Đo cả phễu để biết cần sửa chỗ nào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EEF9D-BC07-4393-85E1-AA2A4B84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9B8CE"/>
                </a:solidFill>
              </a:defRPr>
            </a:pPr>
            <a:r>
              <a:rPr sz="1275" b="0">
                <a:solidFill>
                  <a:srgbClr val="A9B8CE"/>
                </a:solidFill>
              </a:rPr>
              <a:t>Đừng để lượt xem che mất vấn đề của sản phẩm hoặc chuyển đổi.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5FB0C6-27D9-46CA-986A-B12A3B42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26436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24C5CA-8712-4306-BA67-FD305913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66925"/>
            <a:ext cx="1666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Thu hút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5A527-6091-4203-9F14-2A7A8AE6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66925"/>
            <a:ext cx="3286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9B8CE"/>
                </a:solidFill>
              </a:defRPr>
            </a:pPr>
            <a:r>
              <a:rPr sz="1125" b="0">
                <a:solidFill>
                  <a:srgbClr val="A9B8CE"/>
                </a:solidFill>
              </a:rPr>
              <a:t>View, tỷ lệ xem 3 giây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994E46-0D50-45DF-8C73-D3802DC2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66925"/>
            <a:ext cx="3810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Sửa hook và khung hình đầu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3D038A-AE87-4D17-AEA8-3714AE75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108204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26436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DABBA-60E5-404E-9D9A-A8866D67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1666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Giữ chân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8A8281-CB4E-4E2A-8DE2-410E4FFB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47950"/>
            <a:ext cx="3286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9B8CE"/>
                </a:solidFill>
              </a:defRPr>
            </a:pPr>
            <a:r>
              <a:rPr sz="1125" b="0">
                <a:solidFill>
                  <a:srgbClr val="A9B8CE"/>
                </a:solidFill>
              </a:rPr>
              <a:t>Thời gian xem, xem hết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2A2172-97A0-41FB-AC7A-53653980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3810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Sửa nhịp dựng và diễn biến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D79B2D-DC1E-49DC-A5D7-76F83371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108204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26436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F2E6D4-2718-4A36-A656-ECCE5C4A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28975"/>
            <a:ext cx="1666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Tương tác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1B2DF3-A929-4BFE-8D01-3E2B6AB3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28975"/>
            <a:ext cx="3286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9B8CE"/>
                </a:solidFill>
              </a:defRPr>
            </a:pPr>
            <a:r>
              <a:rPr sz="1125" b="0">
                <a:solidFill>
                  <a:srgbClr val="A9B8CE"/>
                </a:solidFill>
              </a:rPr>
              <a:t>Lưu, chia sẻ, bình luận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8A3133-563C-4FDA-B5B2-595CB309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28975"/>
            <a:ext cx="3810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Sửa giá trị và độ đúng tệp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C87675-B608-4502-85F3-DEF90C01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108204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23552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DB1527-732E-4FA1-9BFC-B41E517E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0000"/>
            <a:ext cx="1666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Chuyển đổi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1D885E-6B1D-49E0-BBDC-A4ED2A29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10000"/>
            <a:ext cx="3286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9B8CE"/>
                </a:solidFill>
              </a:defRPr>
            </a:pPr>
            <a:r>
              <a:rPr sz="1125" b="0">
                <a:solidFill>
                  <a:srgbClr val="A9B8CE"/>
                </a:solidFill>
              </a:rPr>
              <a:t>Click, giỏ hàng, đơn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0712BE-ABA4-46BA-B66D-174436B4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10000"/>
            <a:ext cx="3810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22D3EE"/>
                </a:solidFill>
              </a:defRPr>
            </a:pPr>
            <a:r>
              <a:rPr sz="1125" b="0">
                <a:solidFill>
                  <a:srgbClr val="22D3EE"/>
                </a:solidFill>
              </a:rPr>
              <a:t>Sửa CTA, offer, độ tin cậy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F89BE8-916A-4B2E-8289-5B510CF1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8204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26436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D24496-BEC7-4BCC-B024-3104713D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91025"/>
            <a:ext cx="1666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Lợi nhuận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9FA8B7-F36C-4F97-AA1D-89E51A72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91025"/>
            <a:ext cx="3286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9B8CE"/>
                </a:solidFill>
              </a:defRPr>
            </a:pPr>
            <a:r>
              <a:rPr sz="1125" b="0">
                <a:solidFill>
                  <a:srgbClr val="A9B8CE"/>
                </a:solidFill>
              </a:rPr>
              <a:t>Hoa hồng trừ chi phí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26CC17-5686-492B-B6B3-42AF4147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91025"/>
            <a:ext cx="3810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Sửa sản phẩm và vận hành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3303AA-C4B4-4431-BDBE-79301552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B923C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B923C"/>
                </a:solidFill>
              </a:defRPr>
            </a:pPr>
            <a:r>
              <a:rPr sz="1650" b="1">
                <a:solidFill>
                  <a:srgbClr val="FB923C"/>
                </a:solidFill>
              </a:rPr>
              <a:t>View cao + ít đơn = chưa chắc là video tốt cho affiliate.</a:t>
            </a:r>
          </a:p>
        </p:txBody>
      </p:sp>
    </p:spTree>
    <p:extLst>
      <p:ext uri="{BB962C8B-B14F-4D97-AF65-F5344CB8AC3E}">
        <p14:creationId xmlns:p14="http://schemas.microsoft.com/office/powerpoint/2010/main" val="7158199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CE8A93-E8BC-42B6-A09D-C3223A61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5F329-B6E0-4646-93D7-5FBF8F18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2D3EE"/>
                </a:solidFill>
              </a:defRPr>
            </a:pPr>
            <a:r>
              <a:rPr sz="900" b="1">
                <a:solidFill>
                  <a:srgbClr val="22D3EE"/>
                </a:solidFill>
              </a:rPr>
              <a:t>KẾ HOẠCH 30 NGÀY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73D695-59FB-4AC6-ADB9-20307CCE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A9B8CE"/>
                </a:solidFill>
              </a:defRPr>
            </a:pPr>
            <a:r>
              <a:rPr sz="900" b="1">
                <a:solidFill>
                  <a:srgbClr val="A9B8CE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1CDAF-6BA7-49AC-B600-08130CE5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Bốn tuần để có dữ liệu đầu tiên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C68DBB-C1CE-48A5-A41C-F89D88CB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9B8CE"/>
                </a:solidFill>
              </a:defRPr>
            </a:pPr>
            <a:r>
              <a:rPr sz="1275" b="0">
                <a:solidFill>
                  <a:srgbClr val="A9B8CE"/>
                </a:solidFill>
              </a:rPr>
              <a:t>Mục tiêu là tìm tín hiệu, không phải chứng minh một ý tưởng ngay từ video đầu.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7046DA-0211-4053-A244-63C8B9BE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41935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26436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7B0891-9FCD-42D2-8233-D6160553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0325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2D3EE"/>
                </a:solidFill>
              </a:defRPr>
            </a:pPr>
            <a:r>
              <a:rPr sz="1425" b="1">
                <a:solidFill>
                  <a:srgbClr val="22D3EE"/>
                </a:solidFill>
              </a:rPr>
              <a:t>Tuần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F1102F-7E3D-4CB0-BC31-B87F3499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19431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Chọn ngách, tệp, 3–5 sản phẩm. Thu thập 50 hook và 30 vấn đề khách hay hỏi.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2E816-EB9D-406F-BE4D-DF2D6A21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33625"/>
            <a:ext cx="241935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2643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26BF94-87BB-40BA-9098-209E868F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00325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2D3EE"/>
                </a:solidFill>
              </a:defRPr>
            </a:pPr>
            <a:r>
              <a:rPr sz="1425" b="1">
                <a:solidFill>
                  <a:srgbClr val="22D3EE"/>
                </a:solidFill>
              </a:rPr>
              <a:t>Tuần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F7D03D-CD86-41A0-AF19-554235CD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86100"/>
            <a:ext cx="19431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Đăng video đều. Mỗi sản phẩm thử nhiều góc: lỗi sai, so sánh, demo, review.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12DF6-F0D0-445A-B9EB-6C42430D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241935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26436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7D0BB1-EB05-40A2-A80E-D8E8FB1C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00325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2D3EE"/>
                </a:solidFill>
              </a:defRPr>
            </a:pPr>
            <a:r>
              <a:rPr sz="1425" b="1">
                <a:solidFill>
                  <a:srgbClr val="22D3EE"/>
                </a:solidFill>
              </a:rPr>
              <a:t>Tuần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569F16-DEAC-432F-A491-CFB54726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86100"/>
            <a:ext cx="19431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Làm series từ video có tín hiệu. Trả lời bình luận bằng video. Tối ưu CTA.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AEC52D-1578-4F87-B6C5-0CF32F07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33625"/>
            <a:ext cx="241935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4446DD-C0D1-44A0-ADA3-9A4DB03C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00325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34D399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34D399"/>
                </a:solidFill>
              </a:defRPr>
            </a:pPr>
            <a:r>
              <a:rPr sz="1425" b="1">
                <a:solidFill>
                  <a:srgbClr val="34D399"/>
                </a:solidFill>
              </a:rPr>
              <a:t>Tuần 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13658-9DEA-4FE9-8979-C17EF997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86100"/>
            <a:ext cx="19431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Nhân bản format có click/đơn. Loại sản phẩm click nhiều nhưng không chốt.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A5B375-37CB-47CA-9C7C-063B5DC0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A9B8CE"/>
                </a:solidFill>
              </a:defRPr>
            </a:pPr>
            <a:r>
              <a:rPr sz="1500" b="1">
                <a:solidFill>
                  <a:srgbClr val="A9B8CE"/>
                </a:solidFill>
              </a:rPr>
              <a:t>Kỷ luật cần có: mỗi tuần tổng kết 3 video tốt nhất, 3 video yếu nhất và 3 thử nghiệm mới.</a:t>
            </a:r>
          </a:p>
        </p:txBody>
      </p:sp>
    </p:spTree>
    <p:extLst>
      <p:ext uri="{BB962C8B-B14F-4D97-AF65-F5344CB8AC3E}">
        <p14:creationId xmlns:p14="http://schemas.microsoft.com/office/powerpoint/2010/main" val="14703185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239B64-2D65-4A1C-9FAC-CD67B57A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921A9-BEC3-43A4-8806-DE4C96F2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34D399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34D399"/>
                </a:solidFill>
              </a:defRPr>
            </a:pPr>
            <a:r>
              <a:rPr sz="1050" b="1">
                <a:solidFill>
                  <a:srgbClr val="34D399"/>
                </a:solidFill>
              </a:rPr>
              <a:t>KẾT LUẬN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48784B-71F8-4517-8F6E-A2F0C852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7334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Video AI là đòn bẩy.</a:t>
            </a:r>
          </a:p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Tư duy mới tạo ra thu nhập.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D23536-5E8B-40C4-A714-F08EB958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A9B8CE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A9B8CE"/>
                </a:solidFill>
              </a:defRPr>
            </a:pPr>
            <a:r>
              <a:rPr sz="1575" b="0">
                <a:solidFill>
                  <a:srgbClr val="A9B8CE"/>
                </a:solidFill>
              </a:rPr>
              <a:t>Hãy bắt đầu bằng một tệp khách hàng, một nhóm vấn đề và vài sản phẩm</a:t>
            </a:r>
          </a:p>
          <a:p xmlns:a="http://schemas.openxmlformats.org/drawingml/2006/main">
            <a:pPr>
              <a:defRPr sz="1575" b="0">
                <a:solidFill>
                  <a:srgbClr val="A9B8CE"/>
                </a:solidFill>
              </a:defRPr>
            </a:pPr>
            <a:r>
              <a:rPr sz="1575" b="0">
                <a:solidFill>
                  <a:srgbClr val="A9B8CE"/>
                </a:solidFill>
              </a:rPr>
              <a:t>đủ tốt để làm sâu trong 30 ngày.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9D10AE-3669-490B-AD76-311F05A3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26436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8B022-DE72-4EBD-970D-4843AC8B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2D3EE"/>
                </a:solidFill>
              </a:defRPr>
            </a:pPr>
            <a:r>
              <a:rPr sz="1350" b="1">
                <a:solidFill>
                  <a:srgbClr val="22D3EE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420E9-3B32-4645-8410-CA30B35F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00525"/>
            <a:ext cx="152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Hiểu khách hàng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9C872-D4DE-49B4-A0FC-ABE6EFD8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71925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26436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AAEA5-FCF9-448B-9D53-306DB15B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719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2D3EE"/>
                </a:solidFill>
              </a:defRPr>
            </a:pPr>
            <a:r>
              <a:rPr sz="1350" b="1">
                <a:solidFill>
                  <a:srgbClr val="22D3EE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CFD4B7-1339-4C83-AAE3-F4C19061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00525"/>
            <a:ext cx="152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Chọn sản phẩm có thể bán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3D355-DCB9-4509-A690-78A9175D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71925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7CDE8-6EDF-4217-BB6A-A548D614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719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34D399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34D399"/>
                </a:solidFill>
              </a:defRPr>
            </a:pPr>
            <a:r>
              <a:rPr sz="1350" b="1">
                <a:solidFill>
                  <a:srgbClr val="34D399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E73C9A-72FA-4746-915A-E28EF751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00525"/>
            <a:ext cx="152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Sản xuất, đo và lặp lại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E099E6-FB36-4DFF-A9AA-E9D69414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2D3EE"/>
                </a:solidFill>
              </a:defRPr>
            </a:pPr>
            <a:r>
              <a:rPr sz="1425" b="1">
                <a:solidFill>
                  <a:srgbClr val="22D3EE"/>
                </a:solidFill>
              </a:rPr>
              <a:t>Câu hỏi thảo luận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3CF0F6-9118-4834-A95E-0A8DFD49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Ngách nào bạn muốn thử trong 30 ngày tới?</a:t>
            </a:r>
          </a:p>
        </p:txBody>
      </p:sp>
    </p:spTree>
    <p:extLst>
      <p:ext uri="{BB962C8B-B14F-4D97-AF65-F5344CB8AC3E}">
        <p14:creationId xmlns:p14="http://schemas.microsoft.com/office/powerpoint/2010/main" val="13858407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2026-10-13T07:43:26.1830000Z</dcterms:created>
  <dcterms:modified xsi:type="dcterms:W3CDTF">2026-10-13T07:43:26.1830000Z</dcterms:modified>
</coreProperties>
</file>